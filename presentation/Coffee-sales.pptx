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g9Klfeva/nN5I8oRKsIIPoQdfV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78FD146A-23A1-68A7-5FD6-DE9D164AC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>
            <a:extLst>
              <a:ext uri="{FF2B5EF4-FFF2-40B4-BE49-F238E27FC236}">
                <a16:creationId xmlns:a16="http://schemas.microsoft.com/office/drawing/2014/main" id="{CF9AEAA4-F9BA-A793-A59B-5873E83D2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>
            <a:extLst>
              <a:ext uri="{FF2B5EF4-FFF2-40B4-BE49-F238E27FC236}">
                <a16:creationId xmlns:a16="http://schemas.microsoft.com/office/drawing/2014/main" id="{B42588AA-38C7-E18C-D941-55A5A8395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317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30eefe9a0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b30eefe9a0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30eefe9a0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b30eefe9a0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30eefe9a0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3b30eefe9a0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0eefe9a0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b30eefe9a0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30eefe9a0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b30eefe9a0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30eefe9a0_1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b30eefe9a0_1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9683CB3B-E2DE-7FCA-41B2-4F9BAABE2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30eefe9a0_1_59:notes">
            <a:extLst>
              <a:ext uri="{FF2B5EF4-FFF2-40B4-BE49-F238E27FC236}">
                <a16:creationId xmlns:a16="http://schemas.microsoft.com/office/drawing/2014/main" id="{6E961EB4-98C5-A62F-3DF1-7EF028880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b30eefe9a0_1_59:notes">
            <a:extLst>
              <a:ext uri="{FF2B5EF4-FFF2-40B4-BE49-F238E27FC236}">
                <a16:creationId xmlns:a16="http://schemas.microsoft.com/office/drawing/2014/main" id="{33618673-070F-479C-7275-AAB970E58F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9816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960900" y="619050"/>
            <a:ext cx="10438200" cy="49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5000" b="1">
                <a:solidFill>
                  <a:schemeClr val="lt1"/>
                </a:solidFill>
              </a:rPr>
              <a:t>Coffee Sales Analysis – Vending Machine</a:t>
            </a:r>
            <a:endParaRPr sz="5000" b="1">
              <a:solidFill>
                <a:schemeClr val="lt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000" b="1">
              <a:solidFill>
                <a:schemeClr val="lt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Proyek ini menganalisis data penjualan kopi dari mesin vending selama ±13 bulan dengan tujuan memahami performa penjualan, perilaku pelanggan, serta peluang optimasi revenue dan operasional.</a:t>
            </a:r>
            <a:endParaRPr sz="71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28264" y="5926237"/>
            <a:ext cx="1805651" cy="381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AGUSTIANTO</a:t>
            </a: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-462987" y="1493135"/>
            <a:ext cx="13183564" cy="57294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1053300" y="2673750"/>
            <a:ext cx="10066800" cy="327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-US" sz="2300" dirty="0" err="1">
                <a:solidFill>
                  <a:schemeClr val="dk1"/>
                </a:solidFill>
              </a:rPr>
              <a:t>Bagaimana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performa</a:t>
            </a:r>
            <a:r>
              <a:rPr lang="en-US" sz="2300" dirty="0">
                <a:solidFill>
                  <a:schemeClr val="dk1"/>
                </a:solidFill>
              </a:rPr>
              <a:t> revenue </a:t>
            </a:r>
            <a:r>
              <a:rPr lang="en-US" sz="2300" dirty="0" err="1">
                <a:solidFill>
                  <a:schemeClr val="dk1"/>
                </a:solidFill>
              </a:rPr>
              <a:t>secara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keseluruhan</a:t>
            </a:r>
            <a:r>
              <a:rPr lang="en-US" sz="2300" dirty="0">
                <a:solidFill>
                  <a:schemeClr val="dk1"/>
                </a:solidFill>
              </a:rPr>
              <a:t> dan </a:t>
            </a:r>
            <a:r>
              <a:rPr lang="en-US" sz="2300" dirty="0" err="1">
                <a:solidFill>
                  <a:schemeClr val="dk1"/>
                </a:solidFill>
              </a:rPr>
              <a:t>trennya</a:t>
            </a:r>
            <a:r>
              <a:rPr lang="en-US" sz="2300" dirty="0">
                <a:solidFill>
                  <a:schemeClr val="dk1"/>
                </a:solidFill>
              </a:rPr>
              <a:t>?</a:t>
            </a: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endParaRPr lang="en-US" sz="2300" dirty="0">
              <a:solidFill>
                <a:schemeClr val="dk1"/>
              </a:solidFill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-US" sz="2300" dirty="0" err="1">
                <a:solidFill>
                  <a:schemeClr val="dk1"/>
                </a:solidFill>
              </a:rPr>
              <a:t>Produk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apa</a:t>
            </a:r>
            <a:r>
              <a:rPr lang="en-US" sz="2300" dirty="0">
                <a:solidFill>
                  <a:schemeClr val="dk1"/>
                </a:solidFill>
              </a:rPr>
              <a:t> yang paling </a:t>
            </a:r>
            <a:r>
              <a:rPr lang="en-US" sz="2300" dirty="0" err="1">
                <a:solidFill>
                  <a:schemeClr val="dk1"/>
                </a:solidFill>
              </a:rPr>
              <a:t>berkontribusi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terhadap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penjualan</a:t>
            </a:r>
            <a:r>
              <a:rPr lang="en-US" sz="2300" dirty="0">
                <a:solidFill>
                  <a:schemeClr val="dk1"/>
                </a:solidFill>
              </a:rPr>
              <a:t>?</a:t>
            </a: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endParaRPr lang="en-US" sz="2300" dirty="0">
              <a:solidFill>
                <a:schemeClr val="dk1"/>
              </a:solidFill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-US" sz="2300" dirty="0" err="1">
                <a:solidFill>
                  <a:schemeClr val="dk1"/>
                </a:solidFill>
              </a:rPr>
              <a:t>Seberapa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besar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peran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pelanggan</a:t>
            </a:r>
            <a:r>
              <a:rPr lang="en-US" sz="2300" dirty="0">
                <a:solidFill>
                  <a:schemeClr val="dk1"/>
                </a:solidFill>
              </a:rPr>
              <a:t> repeat?</a:t>
            </a: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endParaRPr lang="en-US" sz="2300" dirty="0">
              <a:solidFill>
                <a:schemeClr val="dk1"/>
              </a:solidFill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-US" sz="2300" dirty="0" err="1">
                <a:solidFill>
                  <a:schemeClr val="dk1"/>
                </a:solidFill>
              </a:rPr>
              <a:t>Manakah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metode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pembayaran</a:t>
            </a:r>
            <a:r>
              <a:rPr lang="en-US" sz="2300" dirty="0">
                <a:solidFill>
                  <a:schemeClr val="dk1"/>
                </a:solidFill>
              </a:rPr>
              <a:t> yang paling </a:t>
            </a:r>
            <a:r>
              <a:rPr lang="en-US" sz="2300" dirty="0" err="1">
                <a:solidFill>
                  <a:schemeClr val="dk1"/>
                </a:solidFill>
              </a:rPr>
              <a:t>sering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digunakan</a:t>
            </a:r>
            <a:r>
              <a:rPr lang="en-US" sz="2300" dirty="0">
                <a:solidFill>
                  <a:schemeClr val="dk1"/>
                </a:solidFill>
              </a:rPr>
              <a:t> ?</a:t>
            </a: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endParaRPr lang="en-US" sz="2300" dirty="0">
              <a:solidFill>
                <a:schemeClr val="dk1"/>
              </a:solidFill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-US" sz="2300" dirty="0">
                <a:solidFill>
                  <a:schemeClr val="dk1"/>
                </a:solidFill>
              </a:rPr>
              <a:t>Kapan </a:t>
            </a:r>
            <a:r>
              <a:rPr lang="en-US" sz="2300" dirty="0" err="1">
                <a:solidFill>
                  <a:schemeClr val="dk1"/>
                </a:solidFill>
              </a:rPr>
              <a:t>waktu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penjualan</a:t>
            </a:r>
            <a:r>
              <a:rPr lang="en-US" sz="2300" dirty="0">
                <a:solidFill>
                  <a:schemeClr val="dk1"/>
                </a:solidFill>
              </a:rPr>
              <a:t> </a:t>
            </a:r>
            <a:r>
              <a:rPr lang="en-US" sz="2300" dirty="0" err="1">
                <a:solidFill>
                  <a:schemeClr val="dk1"/>
                </a:solidFill>
              </a:rPr>
              <a:t>tertinggi</a:t>
            </a:r>
            <a:r>
              <a:rPr lang="en-US" sz="2300" dirty="0">
                <a:solidFill>
                  <a:schemeClr val="dk1"/>
                </a:solidFill>
              </a:rPr>
              <a:t>?</a:t>
            </a:r>
            <a:endParaRPr sz="2300" dirty="0">
              <a:solidFill>
                <a:schemeClr val="dk1"/>
              </a:solidFill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06500" y="762675"/>
            <a:ext cx="6289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</a:rPr>
              <a:t>Business Questions</a:t>
            </a:r>
            <a:endParaRPr sz="36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5CA64005-092E-73B3-7964-831A9224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4">
            <a:extLst>
              <a:ext uri="{FF2B5EF4-FFF2-40B4-BE49-F238E27FC236}">
                <a16:creationId xmlns:a16="http://schemas.microsoft.com/office/drawing/2014/main" id="{9F547E93-F8FA-E571-9AE3-EE67423E9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>
            <a:extLst>
              <a:ext uri="{FF2B5EF4-FFF2-40B4-BE49-F238E27FC236}">
                <a16:creationId xmlns:a16="http://schemas.microsoft.com/office/drawing/2014/main" id="{B6CE1AC4-32CA-DDD3-4E11-0252019E3A76}"/>
              </a:ext>
            </a:extLst>
          </p:cNvPr>
          <p:cNvSpPr/>
          <p:nvPr/>
        </p:nvSpPr>
        <p:spPr>
          <a:xfrm>
            <a:off x="-462987" y="1493135"/>
            <a:ext cx="13183564" cy="57294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>
            <a:extLst>
              <a:ext uri="{FF2B5EF4-FFF2-40B4-BE49-F238E27FC236}">
                <a16:creationId xmlns:a16="http://schemas.microsoft.com/office/drawing/2014/main" id="{79A9AE89-CB2B-E83F-FDFE-6B69A8F84BE8}"/>
              </a:ext>
            </a:extLst>
          </p:cNvPr>
          <p:cNvSpPr txBox="1"/>
          <p:nvPr/>
        </p:nvSpPr>
        <p:spPr>
          <a:xfrm>
            <a:off x="1053300" y="2673750"/>
            <a:ext cx="10066800" cy="3277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255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</a:pPr>
            <a:r>
              <a:rPr lang="en-US" sz="2300" dirty="0">
                <a:solidFill>
                  <a:schemeClr val="dk1"/>
                </a:solidFill>
              </a:rPr>
              <a:t>Data Source (Kaggle) 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-US" sz="2300" dirty="0">
                <a:solidFill>
                  <a:schemeClr val="dk1"/>
                </a:solidFill>
              </a:rPr>
              <a:t>Data Cleaning &amp; Preparation (Excel)</a:t>
            </a: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endParaRPr lang="en-US" sz="2300" dirty="0">
              <a:solidFill>
                <a:schemeClr val="dk1"/>
              </a:solidFill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-US" sz="2300" dirty="0">
                <a:solidFill>
                  <a:schemeClr val="dk1"/>
                </a:solidFill>
              </a:rPr>
              <a:t>Feature Engineering (Time, Repeat Customer, Transaction Id)</a:t>
            </a: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endParaRPr lang="en-US" sz="2300" dirty="0">
              <a:solidFill>
                <a:schemeClr val="dk1"/>
              </a:solidFill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-US" sz="2300" dirty="0">
                <a:solidFill>
                  <a:schemeClr val="dk1"/>
                </a:solidFill>
              </a:rPr>
              <a:t>KPI Calculation</a:t>
            </a: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endParaRPr lang="en-US" sz="2300" dirty="0">
              <a:solidFill>
                <a:schemeClr val="dk1"/>
              </a:solidFill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lang="en-US" sz="2300" dirty="0">
                <a:solidFill>
                  <a:schemeClr val="dk1"/>
                </a:solidFill>
              </a:rPr>
              <a:t>Dashboard &amp; Insight Generation</a:t>
            </a:r>
            <a:endParaRPr sz="2300" dirty="0">
              <a:solidFill>
                <a:schemeClr val="dk1"/>
              </a:solidFill>
            </a:endParaRPr>
          </a:p>
        </p:txBody>
      </p:sp>
      <p:sp>
        <p:nvSpPr>
          <p:cNvPr id="94" name="Google Shape;94;p4">
            <a:extLst>
              <a:ext uri="{FF2B5EF4-FFF2-40B4-BE49-F238E27FC236}">
                <a16:creationId xmlns:a16="http://schemas.microsoft.com/office/drawing/2014/main" id="{067C357D-3B1F-ECEC-B4A1-C5CDA451A275}"/>
              </a:ext>
            </a:extLst>
          </p:cNvPr>
          <p:cNvSpPr txBox="1"/>
          <p:nvPr/>
        </p:nvSpPr>
        <p:spPr>
          <a:xfrm>
            <a:off x="506500" y="762675"/>
            <a:ext cx="6289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Analysis Workflow</a:t>
            </a:r>
            <a:endParaRPr sz="3600" b="1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59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g3b30eefe9a0_1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b30eefe9a0_1_10"/>
          <p:cNvSpPr/>
          <p:nvPr/>
        </p:nvSpPr>
        <p:spPr>
          <a:xfrm>
            <a:off x="-462987" y="1493135"/>
            <a:ext cx="13183500" cy="57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g3b30eefe9a0_1_10"/>
          <p:cNvSpPr txBox="1"/>
          <p:nvPr/>
        </p:nvSpPr>
        <p:spPr>
          <a:xfrm>
            <a:off x="426200" y="1921800"/>
            <a:ext cx="5114400" cy="4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</a:rPr>
              <a:t>Selama </a:t>
            </a:r>
            <a:r>
              <a:rPr lang="en-US" sz="2200" dirty="0" err="1">
                <a:solidFill>
                  <a:schemeClr val="dk1"/>
                </a:solidFill>
              </a:rPr>
              <a:t>periode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analisis</a:t>
            </a:r>
            <a:r>
              <a:rPr lang="en-US" sz="2200" dirty="0">
                <a:solidFill>
                  <a:schemeClr val="dk1"/>
                </a:solidFill>
              </a:rPr>
              <a:t>, total revenue yang </a:t>
            </a:r>
            <a:r>
              <a:rPr lang="en-US" sz="2200" dirty="0" err="1">
                <a:solidFill>
                  <a:schemeClr val="dk1"/>
                </a:solidFill>
              </a:rPr>
              <a:t>dihasilkan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mencapai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b="1" dirty="0">
                <a:solidFill>
                  <a:schemeClr val="dk1"/>
                </a:solidFill>
              </a:rPr>
              <a:t>$115,432</a:t>
            </a:r>
            <a:r>
              <a:rPr lang="en-US" sz="2200" dirty="0">
                <a:solidFill>
                  <a:schemeClr val="dk1"/>
                </a:solidFill>
              </a:rPr>
              <a:t>.</a:t>
            </a:r>
            <a:br>
              <a:rPr lang="en-US" sz="2200" dirty="0">
                <a:solidFill>
                  <a:schemeClr val="dk1"/>
                </a:solidFill>
              </a:rPr>
            </a:br>
            <a:r>
              <a:rPr lang="en-US" sz="2200" dirty="0">
                <a:solidFill>
                  <a:schemeClr val="dk1"/>
                </a:solidFill>
              </a:rPr>
              <a:t>Performa </a:t>
            </a:r>
            <a:r>
              <a:rPr lang="en-US" sz="2200" dirty="0" err="1">
                <a:solidFill>
                  <a:schemeClr val="dk1"/>
                </a:solidFill>
              </a:rPr>
              <a:t>penjualan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tertinggi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terjadi</a:t>
            </a:r>
            <a:r>
              <a:rPr lang="en-US" sz="2200" dirty="0">
                <a:solidFill>
                  <a:schemeClr val="dk1"/>
                </a:solidFill>
              </a:rPr>
              <a:t> pada </a:t>
            </a:r>
            <a:r>
              <a:rPr lang="en-US" sz="2200" b="1" dirty="0">
                <a:solidFill>
                  <a:schemeClr val="dk1"/>
                </a:solidFill>
              </a:rPr>
              <a:t>Oktober 2024 ($13,891)</a:t>
            </a:r>
            <a:r>
              <a:rPr lang="en-US" sz="2200" dirty="0">
                <a:solidFill>
                  <a:schemeClr val="dk1"/>
                </a:solidFill>
              </a:rPr>
              <a:t> dan </a:t>
            </a:r>
            <a:r>
              <a:rPr lang="en-US" sz="2200" b="1" dirty="0" err="1">
                <a:solidFill>
                  <a:schemeClr val="dk1"/>
                </a:solidFill>
              </a:rPr>
              <a:t>Februari</a:t>
            </a:r>
            <a:r>
              <a:rPr lang="en-US" sz="2200" b="1" dirty="0">
                <a:solidFill>
                  <a:schemeClr val="dk1"/>
                </a:solidFill>
              </a:rPr>
              <a:t> 2025 ($13,215)</a:t>
            </a:r>
            <a:r>
              <a:rPr lang="en-US" sz="2200" dirty="0">
                <a:solidFill>
                  <a:schemeClr val="dk1"/>
                </a:solidFill>
              </a:rPr>
              <a:t>, </a:t>
            </a:r>
            <a:r>
              <a:rPr lang="en-US" sz="2200" dirty="0" err="1">
                <a:solidFill>
                  <a:schemeClr val="dk1"/>
                </a:solidFill>
              </a:rPr>
              <a:t>sementara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b="1" dirty="0">
                <a:solidFill>
                  <a:schemeClr val="dk1"/>
                </a:solidFill>
              </a:rPr>
              <a:t>Januari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menjadi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bulan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dengan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performa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terendah</a:t>
            </a:r>
            <a:r>
              <a:rPr lang="en-US" sz="2200" dirty="0">
                <a:solidFill>
                  <a:schemeClr val="dk1"/>
                </a:solidFill>
              </a:rPr>
              <a:t>.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</a:rPr>
              <a:t>Pola </a:t>
            </a:r>
            <a:r>
              <a:rPr lang="en-US" sz="2200" dirty="0" err="1">
                <a:solidFill>
                  <a:schemeClr val="dk1"/>
                </a:solidFill>
              </a:rPr>
              <a:t>ini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menunjukkan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adanya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fluktuasi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musiman</a:t>
            </a:r>
            <a:r>
              <a:rPr lang="en-US" sz="2200" dirty="0">
                <a:solidFill>
                  <a:schemeClr val="dk1"/>
                </a:solidFill>
              </a:rPr>
              <a:t> yang </a:t>
            </a:r>
            <a:r>
              <a:rPr lang="en-US" sz="2200" dirty="0" err="1">
                <a:solidFill>
                  <a:schemeClr val="dk1"/>
                </a:solidFill>
              </a:rPr>
              <a:t>perlu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diperhatikan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dalam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perencanaan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stok</a:t>
            </a:r>
            <a:r>
              <a:rPr lang="en-US" sz="2200" dirty="0">
                <a:solidFill>
                  <a:schemeClr val="dk1"/>
                </a:solidFill>
              </a:rPr>
              <a:t> dan </a:t>
            </a:r>
            <a:r>
              <a:rPr lang="en-US" sz="2200" dirty="0" err="1">
                <a:solidFill>
                  <a:schemeClr val="dk1"/>
                </a:solidFill>
              </a:rPr>
              <a:t>promosi</a:t>
            </a:r>
            <a:r>
              <a:rPr lang="en-US" sz="2200" dirty="0">
                <a:solidFill>
                  <a:schemeClr val="dk1"/>
                </a:solidFill>
              </a:rPr>
              <a:t>.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</p:txBody>
      </p:sp>
      <p:sp>
        <p:nvSpPr>
          <p:cNvPr id="102" name="Google Shape;102;g3b30eefe9a0_1_10"/>
          <p:cNvSpPr txBox="1"/>
          <p:nvPr/>
        </p:nvSpPr>
        <p:spPr>
          <a:xfrm>
            <a:off x="426200" y="762675"/>
            <a:ext cx="5669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</a:rPr>
              <a:t>Total Revenue &amp; Trend</a:t>
            </a:r>
            <a:endParaRPr sz="3600" b="1">
              <a:solidFill>
                <a:schemeClr val="l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2CCF1-DC26-819C-C231-DFB5D4D03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852" y="2130676"/>
            <a:ext cx="6604947" cy="39161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b30eefe9a0_1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b30eefe9a0_1_19"/>
          <p:cNvSpPr/>
          <p:nvPr/>
        </p:nvSpPr>
        <p:spPr>
          <a:xfrm>
            <a:off x="-462987" y="1493135"/>
            <a:ext cx="13183500" cy="57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3b30eefe9a0_1_19"/>
          <p:cNvSpPr txBox="1"/>
          <p:nvPr/>
        </p:nvSpPr>
        <p:spPr>
          <a:xfrm>
            <a:off x="426200" y="2014775"/>
            <a:ext cx="50913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Dari seluruh produk, </a:t>
            </a:r>
            <a:r>
              <a:rPr lang="en-US" sz="2200" b="1">
                <a:solidFill>
                  <a:schemeClr val="dk1"/>
                </a:solidFill>
              </a:rPr>
              <a:t>Americano with Milk</a:t>
            </a:r>
            <a:r>
              <a:rPr lang="en-US" sz="2200">
                <a:solidFill>
                  <a:schemeClr val="dk1"/>
                </a:solidFill>
              </a:rPr>
              <a:t> merupakan produk paling populer, sedangkan </a:t>
            </a:r>
            <a:r>
              <a:rPr lang="en-US" sz="2200" b="1">
                <a:solidFill>
                  <a:schemeClr val="dk1"/>
                </a:solidFill>
              </a:rPr>
              <a:t>Espresso</a:t>
            </a:r>
            <a:r>
              <a:rPr lang="en-US" sz="2200">
                <a:solidFill>
                  <a:schemeClr val="dk1"/>
                </a:solidFill>
              </a:rPr>
              <a:t> menjadi produk dengan penjualan terendah.</a:t>
            </a:r>
            <a:endParaRPr sz="22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Tingginya volume penjualan tidak selalu berarti kontribusi revenue terbesar, sehingga produk dengan performa rendah perlu dievaluasi dari sisi harga, positioning, atau promosi.</a:t>
            </a:r>
            <a:endParaRPr sz="22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</p:txBody>
      </p:sp>
      <p:sp>
        <p:nvSpPr>
          <p:cNvPr id="110" name="Google Shape;110;g3b30eefe9a0_1_19"/>
          <p:cNvSpPr txBox="1"/>
          <p:nvPr/>
        </p:nvSpPr>
        <p:spPr>
          <a:xfrm>
            <a:off x="426200" y="762675"/>
            <a:ext cx="5669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</a:rPr>
              <a:t>Product Performance</a:t>
            </a:r>
            <a:endParaRPr sz="3600" b="1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5B6456-95AA-915C-50F4-DD978A5C0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858" y="2014775"/>
            <a:ext cx="6655142" cy="39505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g3b30eefe9a0_1_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b30eefe9a0_1_27"/>
          <p:cNvSpPr/>
          <p:nvPr/>
        </p:nvSpPr>
        <p:spPr>
          <a:xfrm>
            <a:off x="-462987" y="1493135"/>
            <a:ext cx="13183500" cy="57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b30eefe9a0_1_27"/>
          <p:cNvSpPr txBox="1"/>
          <p:nvPr/>
        </p:nvSpPr>
        <p:spPr>
          <a:xfrm>
            <a:off x="426300" y="1890800"/>
            <a:ext cx="5091000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 err="1">
                <a:solidFill>
                  <a:schemeClr val="dk1"/>
                </a:solidFill>
              </a:rPr>
              <a:t>Analisis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menunjukkan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adanya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b="1" dirty="0">
                <a:solidFill>
                  <a:schemeClr val="dk1"/>
                </a:solidFill>
              </a:rPr>
              <a:t>78%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transaksi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kartu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berasal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dari</a:t>
            </a:r>
            <a:r>
              <a:rPr lang="en-US" sz="2200" dirty="0">
                <a:solidFill>
                  <a:schemeClr val="dk1"/>
                </a:solidFill>
              </a:rPr>
              <a:t> repeat customer, </a:t>
            </a:r>
            <a:r>
              <a:rPr lang="en-US" sz="2200" dirty="0" err="1">
                <a:solidFill>
                  <a:schemeClr val="dk1"/>
                </a:solidFill>
              </a:rPr>
              <a:t>menunjukkan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loyalitas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pelanggan</a:t>
            </a:r>
            <a:r>
              <a:rPr lang="en-US" sz="2200" dirty="0">
                <a:solidFill>
                  <a:schemeClr val="dk1"/>
                </a:solidFill>
              </a:rPr>
              <a:t> yang </a:t>
            </a:r>
            <a:r>
              <a:rPr lang="en-US" sz="2200" dirty="0" err="1">
                <a:solidFill>
                  <a:schemeClr val="dk1"/>
                </a:solidFill>
              </a:rPr>
              <a:t>kuat</a:t>
            </a:r>
            <a:r>
              <a:rPr lang="en-US" sz="2200" dirty="0">
                <a:solidFill>
                  <a:schemeClr val="dk1"/>
                </a:solidFill>
              </a:rPr>
              <a:t>.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 err="1">
                <a:solidFill>
                  <a:schemeClr val="dk1"/>
                </a:solidFill>
              </a:rPr>
              <a:t>Transaksi</a:t>
            </a:r>
            <a:r>
              <a:rPr lang="en-US" sz="2200" dirty="0">
                <a:solidFill>
                  <a:schemeClr val="dk1"/>
                </a:solidFill>
              </a:rPr>
              <a:t> cash </a:t>
            </a:r>
            <a:r>
              <a:rPr lang="en-US" sz="2200" dirty="0" err="1">
                <a:solidFill>
                  <a:schemeClr val="dk1"/>
                </a:solidFill>
              </a:rPr>
              <a:t>tidak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dapat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diidentifikasi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secara</a:t>
            </a:r>
            <a:r>
              <a:rPr lang="en-US" sz="2200" dirty="0">
                <a:solidFill>
                  <a:schemeClr val="dk1"/>
                </a:solidFill>
              </a:rPr>
              <a:t> individual, </a:t>
            </a:r>
            <a:r>
              <a:rPr lang="en-US" sz="2200" dirty="0" err="1">
                <a:solidFill>
                  <a:schemeClr val="dk1"/>
                </a:solidFill>
              </a:rPr>
              <a:t>sehingga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analisis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loyalitas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difokuskan</a:t>
            </a:r>
            <a:r>
              <a:rPr lang="en-US" sz="2200" dirty="0">
                <a:solidFill>
                  <a:schemeClr val="dk1"/>
                </a:solidFill>
              </a:rPr>
              <a:t> pada </a:t>
            </a:r>
            <a:r>
              <a:rPr lang="en-US" sz="2200" dirty="0" err="1">
                <a:solidFill>
                  <a:schemeClr val="dk1"/>
                </a:solidFill>
              </a:rPr>
              <a:t>pengguna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kartu</a:t>
            </a:r>
            <a:r>
              <a:rPr lang="en-US" sz="2200" dirty="0">
                <a:solidFill>
                  <a:schemeClr val="dk1"/>
                </a:solidFill>
              </a:rPr>
              <a:t>.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</p:txBody>
      </p:sp>
      <p:sp>
        <p:nvSpPr>
          <p:cNvPr id="118" name="Google Shape;118;g3b30eefe9a0_1_27"/>
          <p:cNvSpPr txBox="1"/>
          <p:nvPr/>
        </p:nvSpPr>
        <p:spPr>
          <a:xfrm>
            <a:off x="426200" y="762675"/>
            <a:ext cx="475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</a:rPr>
              <a:t>Repeat Customer</a:t>
            </a:r>
            <a:endParaRPr sz="3600" b="1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C01CF3-DE37-8874-6026-9AE48CF05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809" y="2157610"/>
            <a:ext cx="4974819" cy="29151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g3b30eefe9a0_1_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b30eefe9a0_1_35"/>
          <p:cNvSpPr/>
          <p:nvPr/>
        </p:nvSpPr>
        <p:spPr>
          <a:xfrm>
            <a:off x="-462987" y="1493135"/>
            <a:ext cx="13183500" cy="57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b30eefe9a0_1_35"/>
          <p:cNvSpPr txBox="1"/>
          <p:nvPr/>
        </p:nvSpPr>
        <p:spPr>
          <a:xfrm>
            <a:off x="483900" y="1942800"/>
            <a:ext cx="49893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Sebanyak </a:t>
            </a:r>
            <a:r>
              <a:rPr lang="en-US" sz="2200" b="1">
                <a:solidFill>
                  <a:schemeClr val="dk1"/>
                </a:solidFill>
              </a:rPr>
              <a:t>98% transaksi dilakukan menggunakan kartu</a:t>
            </a:r>
            <a:r>
              <a:rPr lang="en-US" sz="2200">
                <a:solidFill>
                  <a:schemeClr val="dk1"/>
                </a:solidFill>
              </a:rPr>
              <a:t>, sementara hanya </a:t>
            </a:r>
            <a:r>
              <a:rPr lang="en-US" sz="2200" b="1">
                <a:solidFill>
                  <a:schemeClr val="dk1"/>
                </a:solidFill>
              </a:rPr>
              <a:t>2% menggunakan cash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Hal ini menunjukkan preferensi kuat terhadap pembayaran non-tunai, sehingga sistem pembayaran digital menjadi faktor penting dalam operasional vending machine.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26" name="Google Shape;126;g3b30eefe9a0_1_35"/>
          <p:cNvSpPr txBox="1"/>
          <p:nvPr/>
        </p:nvSpPr>
        <p:spPr>
          <a:xfrm>
            <a:off x="483800" y="762675"/>
            <a:ext cx="4695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</a:rPr>
              <a:t>Payment Method</a:t>
            </a:r>
            <a:endParaRPr sz="3600" b="1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0F54A3-DCB9-9593-6C8D-C5A857FCF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336" y="2044680"/>
            <a:ext cx="3746361" cy="22334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b30eefe9a0_1_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b30eefe9a0_1_43"/>
          <p:cNvSpPr/>
          <p:nvPr/>
        </p:nvSpPr>
        <p:spPr>
          <a:xfrm>
            <a:off x="-462987" y="1493135"/>
            <a:ext cx="13183500" cy="57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b30eefe9a0_1_43"/>
          <p:cNvSpPr txBox="1"/>
          <p:nvPr/>
        </p:nvSpPr>
        <p:spPr>
          <a:xfrm>
            <a:off x="461100" y="2048625"/>
            <a:ext cx="49893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Waktu penjualan tertinggi terjadi pada </a:t>
            </a:r>
            <a:r>
              <a:rPr lang="en-US" sz="2200" b="1">
                <a:solidFill>
                  <a:schemeClr val="dk1"/>
                </a:solidFill>
              </a:rPr>
              <a:t>pukul 10 pagi</a:t>
            </a:r>
            <a:r>
              <a:rPr lang="en-US" sz="2200">
                <a:solidFill>
                  <a:schemeClr val="dk1"/>
                </a:solidFill>
              </a:rPr>
              <a:t>, yang kemungkinan berkaitan dengan jam istirahat atau sebelum aktivitas kerja utama.</a:t>
            </a:r>
            <a:endParaRPr sz="22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Jam dengan aktivitas rendah terjadi pada </a:t>
            </a:r>
            <a:r>
              <a:rPr lang="en-US" sz="2200" b="1">
                <a:solidFill>
                  <a:schemeClr val="dk1"/>
                </a:solidFill>
              </a:rPr>
              <a:t>pukul 6 pagi</a:t>
            </a:r>
            <a:r>
              <a:rPr lang="en-US" sz="2200">
                <a:solidFill>
                  <a:schemeClr val="dk1"/>
                </a:solidFill>
              </a:rPr>
              <a:t>, sehingga promosi atau penambahan stok di jam tersebut kurang menjadi prioritas.</a:t>
            </a:r>
            <a:endParaRPr sz="22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</a:endParaRPr>
          </a:p>
        </p:txBody>
      </p:sp>
      <p:sp>
        <p:nvSpPr>
          <p:cNvPr id="134" name="Google Shape;134;g3b30eefe9a0_1_43"/>
          <p:cNvSpPr txBox="1"/>
          <p:nvPr/>
        </p:nvSpPr>
        <p:spPr>
          <a:xfrm>
            <a:off x="461125" y="762675"/>
            <a:ext cx="471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</a:rPr>
              <a:t>Peak Hour Analysis</a:t>
            </a:r>
            <a:endParaRPr sz="3600" b="1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938E31-C332-656C-B18B-27F1EB681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287" y="2066854"/>
            <a:ext cx="5868142" cy="3735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b30eefe9a0_1_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b30eefe9a0_1_59"/>
          <p:cNvSpPr/>
          <p:nvPr/>
        </p:nvSpPr>
        <p:spPr>
          <a:xfrm>
            <a:off x="-462987" y="1493135"/>
            <a:ext cx="13183500" cy="57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b30eefe9a0_1_59"/>
          <p:cNvSpPr txBox="1"/>
          <p:nvPr/>
        </p:nvSpPr>
        <p:spPr>
          <a:xfrm>
            <a:off x="1053300" y="2305650"/>
            <a:ext cx="10361700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dirty="0" err="1">
                <a:solidFill>
                  <a:schemeClr val="dk1"/>
                </a:solidFill>
              </a:rPr>
              <a:t>Promosikan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produk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dengan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penjualan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rendah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seperti</a:t>
            </a:r>
            <a:r>
              <a:rPr lang="en-US" sz="2200" dirty="0">
                <a:solidFill>
                  <a:schemeClr val="dk1"/>
                </a:solidFill>
              </a:rPr>
              <a:t> Espresso </a:t>
            </a:r>
            <a:r>
              <a:rPr lang="en-US" sz="2200" dirty="0" err="1">
                <a:solidFill>
                  <a:schemeClr val="dk1"/>
                </a:solidFill>
              </a:rPr>
              <a:t>melalui</a:t>
            </a:r>
            <a:r>
              <a:rPr lang="en-US" sz="2200" dirty="0">
                <a:solidFill>
                  <a:schemeClr val="dk1"/>
                </a:solidFill>
              </a:rPr>
              <a:t> bundling </a:t>
            </a:r>
            <a:r>
              <a:rPr lang="en-US" sz="2200" dirty="0" err="1">
                <a:solidFill>
                  <a:schemeClr val="dk1"/>
                </a:solidFill>
              </a:rPr>
              <a:t>atau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diskon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terbatas</a:t>
            </a:r>
            <a:r>
              <a:rPr lang="en-US" sz="2200" dirty="0">
                <a:solidFill>
                  <a:schemeClr val="dk1"/>
                </a:solidFill>
              </a:rPr>
              <a:t>.</a:t>
            </a:r>
          </a:p>
          <a:p>
            <a:pPr marL="45720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endParaRPr lang="en-US" sz="2200" dirty="0">
              <a:solidFill>
                <a:schemeClr val="dk1"/>
              </a:solidFill>
            </a:endParaRPr>
          </a:p>
          <a:p>
            <a:pPr marL="45720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dirty="0" err="1">
                <a:solidFill>
                  <a:schemeClr val="dk1"/>
                </a:solidFill>
              </a:rPr>
              <a:t>Pastikan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ketersediaan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stok</a:t>
            </a:r>
            <a:r>
              <a:rPr lang="en-US" sz="2200" dirty="0">
                <a:solidFill>
                  <a:schemeClr val="dk1"/>
                </a:solidFill>
              </a:rPr>
              <a:t> optimal pada jam </a:t>
            </a:r>
            <a:r>
              <a:rPr lang="en-US" sz="2200" dirty="0" err="1">
                <a:solidFill>
                  <a:schemeClr val="dk1"/>
                </a:solidFill>
              </a:rPr>
              <a:t>sibuk</a:t>
            </a:r>
            <a:r>
              <a:rPr lang="en-US" sz="2200" dirty="0">
                <a:solidFill>
                  <a:schemeClr val="dk1"/>
                </a:solidFill>
              </a:rPr>
              <a:t>, </a:t>
            </a:r>
            <a:r>
              <a:rPr lang="en-US" sz="2200" dirty="0" err="1">
                <a:solidFill>
                  <a:schemeClr val="dk1"/>
                </a:solidFill>
              </a:rPr>
              <a:t>terutama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b="1" dirty="0" err="1">
                <a:solidFill>
                  <a:schemeClr val="dk1"/>
                </a:solidFill>
              </a:rPr>
              <a:t>pukul</a:t>
            </a:r>
            <a:r>
              <a:rPr lang="en-US" sz="2200" b="1" dirty="0">
                <a:solidFill>
                  <a:schemeClr val="dk1"/>
                </a:solidFill>
              </a:rPr>
              <a:t> 10 </a:t>
            </a:r>
            <a:r>
              <a:rPr lang="en-US" sz="2200" b="1" dirty="0" err="1">
                <a:solidFill>
                  <a:schemeClr val="dk1"/>
                </a:solidFill>
              </a:rPr>
              <a:t>pagi</a:t>
            </a:r>
            <a:r>
              <a:rPr lang="en-US" sz="2200" b="1" dirty="0">
                <a:solidFill>
                  <a:schemeClr val="dk1"/>
                </a:solidFill>
              </a:rPr>
              <a:t> dan 14–16</a:t>
            </a:r>
            <a:r>
              <a:rPr lang="en-US" sz="2200" dirty="0">
                <a:solidFill>
                  <a:schemeClr val="dk1"/>
                </a:solidFill>
              </a:rPr>
              <a:t>.</a:t>
            </a:r>
          </a:p>
          <a:p>
            <a:pPr marL="45720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endParaRPr lang="en-US" sz="2200" dirty="0">
              <a:solidFill>
                <a:schemeClr val="dk1"/>
              </a:solidFill>
            </a:endParaRPr>
          </a:p>
          <a:p>
            <a:pPr marL="45720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dirty="0" err="1">
                <a:solidFill>
                  <a:schemeClr val="dk1"/>
                </a:solidFill>
              </a:rPr>
              <a:t>Manfaatkan</a:t>
            </a:r>
            <a:r>
              <a:rPr lang="en-US" sz="2200" dirty="0">
                <a:solidFill>
                  <a:schemeClr val="dk1"/>
                </a:solidFill>
              </a:rPr>
              <a:t> jam </a:t>
            </a:r>
            <a:r>
              <a:rPr lang="en-US" sz="2200" dirty="0" err="1">
                <a:solidFill>
                  <a:schemeClr val="dk1"/>
                </a:solidFill>
              </a:rPr>
              <a:t>sibuk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untuk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promosi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bernilai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tinggi</a:t>
            </a:r>
            <a:r>
              <a:rPr lang="en-US" sz="2200" dirty="0">
                <a:solidFill>
                  <a:schemeClr val="dk1"/>
                </a:solidFill>
              </a:rPr>
              <a:t>.</a:t>
            </a:r>
          </a:p>
          <a:p>
            <a:pPr marL="45720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endParaRPr lang="en-US" sz="2200" dirty="0">
              <a:solidFill>
                <a:schemeClr val="dk1"/>
              </a:solidFill>
            </a:endParaRPr>
          </a:p>
          <a:p>
            <a:pPr marL="457200" lvl="0" indent="-3683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lang="en-US" sz="2200" dirty="0" err="1">
                <a:solidFill>
                  <a:schemeClr val="dk1"/>
                </a:solidFill>
              </a:rPr>
              <a:t>Pertimbangkan</a:t>
            </a:r>
            <a:r>
              <a:rPr lang="en-US" sz="2200" dirty="0">
                <a:solidFill>
                  <a:schemeClr val="dk1"/>
                </a:solidFill>
              </a:rPr>
              <a:t> program </a:t>
            </a:r>
            <a:r>
              <a:rPr lang="en-US" sz="2200" dirty="0" err="1">
                <a:solidFill>
                  <a:schemeClr val="dk1"/>
                </a:solidFill>
              </a:rPr>
              <a:t>loyalitas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untuk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pelanggan</a:t>
            </a:r>
            <a:r>
              <a:rPr lang="en-US" sz="2200" dirty="0">
                <a:solidFill>
                  <a:schemeClr val="dk1"/>
                </a:solidFill>
              </a:rPr>
              <a:t> repeat </a:t>
            </a:r>
            <a:r>
              <a:rPr lang="en-US" sz="2200" dirty="0" err="1">
                <a:solidFill>
                  <a:schemeClr val="dk1"/>
                </a:solidFill>
              </a:rPr>
              <a:t>berbasis</a:t>
            </a:r>
            <a:r>
              <a:rPr lang="en-US" sz="2200" dirty="0">
                <a:solidFill>
                  <a:schemeClr val="dk1"/>
                </a:solidFill>
              </a:rPr>
              <a:t> </a:t>
            </a:r>
            <a:r>
              <a:rPr lang="en-US" sz="2200" dirty="0" err="1">
                <a:solidFill>
                  <a:schemeClr val="dk1"/>
                </a:solidFill>
              </a:rPr>
              <a:t>kartu</a:t>
            </a:r>
            <a:r>
              <a:rPr lang="en-US" sz="2200" dirty="0">
                <a:solidFill>
                  <a:schemeClr val="dk1"/>
                </a:solidFill>
              </a:rPr>
              <a:t>.</a:t>
            </a:r>
            <a:endParaRPr sz="22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</a:endParaRPr>
          </a:p>
        </p:txBody>
      </p:sp>
      <p:sp>
        <p:nvSpPr>
          <p:cNvPr id="142" name="Google Shape;142;g3b30eefe9a0_1_59"/>
          <p:cNvSpPr txBox="1"/>
          <p:nvPr/>
        </p:nvSpPr>
        <p:spPr>
          <a:xfrm>
            <a:off x="483800" y="762675"/>
            <a:ext cx="651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</a:rPr>
              <a:t>Recommendations Business</a:t>
            </a:r>
            <a:endParaRPr sz="36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A8BDD21E-7EE5-3DEA-1268-3480C254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b30eefe9a0_1_59">
            <a:extLst>
              <a:ext uri="{FF2B5EF4-FFF2-40B4-BE49-F238E27FC236}">
                <a16:creationId xmlns:a16="http://schemas.microsoft.com/office/drawing/2014/main" id="{51E55884-135F-2D3D-0CC4-123E2BB01F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04172" y="-555584"/>
            <a:ext cx="12535382" cy="740882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b30eefe9a0_1_59">
            <a:extLst>
              <a:ext uri="{FF2B5EF4-FFF2-40B4-BE49-F238E27FC236}">
                <a16:creationId xmlns:a16="http://schemas.microsoft.com/office/drawing/2014/main" id="{D2CBD893-9EFA-ACAB-67DD-A1706C4DE98E}"/>
              </a:ext>
            </a:extLst>
          </p:cNvPr>
          <p:cNvSpPr/>
          <p:nvPr/>
        </p:nvSpPr>
        <p:spPr>
          <a:xfrm>
            <a:off x="-462987" y="1493135"/>
            <a:ext cx="13183500" cy="572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b30eefe9a0_1_59">
            <a:extLst>
              <a:ext uri="{FF2B5EF4-FFF2-40B4-BE49-F238E27FC236}">
                <a16:creationId xmlns:a16="http://schemas.microsoft.com/office/drawing/2014/main" id="{EF0899E4-F2C2-0BC9-0126-671D05B488BB}"/>
              </a:ext>
            </a:extLst>
          </p:cNvPr>
          <p:cNvSpPr txBox="1"/>
          <p:nvPr/>
        </p:nvSpPr>
        <p:spPr>
          <a:xfrm>
            <a:off x="483800" y="762675"/>
            <a:ext cx="651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lt1"/>
                </a:solidFill>
              </a:rPr>
              <a:t>Dashboard</a:t>
            </a:r>
            <a:endParaRPr sz="3600" b="1" dirty="0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EBF64D-FBA4-CA28-095D-67B9AAE34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72" y="2031136"/>
            <a:ext cx="11027228" cy="444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42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377</Words>
  <Application>Microsoft Office PowerPoint</Application>
  <PresentationFormat>Widescreen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agus tianto</dc:creator>
  <cp:lastModifiedBy>agus tianto</cp:lastModifiedBy>
  <cp:revision>3</cp:revision>
  <dcterms:created xsi:type="dcterms:W3CDTF">2025-04-29T10:03:20Z</dcterms:created>
  <dcterms:modified xsi:type="dcterms:W3CDTF">2025-12-28T05:48:03Z</dcterms:modified>
</cp:coreProperties>
</file>